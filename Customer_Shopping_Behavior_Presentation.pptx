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11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6F7EEC-0CB6-4464-9168-270DFC7533F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BED49C-F93C-471B-B2B6-5B2E9C2E57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477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1C7C5-DD19-283E-0883-8EEF6E5AD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9A7841-73C0-35CE-762C-8EF77AB2D7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07B97-D04E-D981-364B-1006677AE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4F5FF-D664-4BB5-BF08-CF440CD81D8E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43C68-4818-5BFC-6A25-E3A46036F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3A6DB-AD2F-E958-347E-8A12DDEE9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834AA-EACA-4E77-9453-83DDF7EC92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200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DD51E-7F82-C15D-2087-8463D0C05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209BE-AA25-918E-1E25-445F6548B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78C7F-4B71-287D-73B3-E6DA2BD17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4F5FF-D664-4BB5-BF08-CF440CD81D8E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5D3E8-EB99-32F4-12A5-6383C316F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0FE7A-C553-7D84-0C84-69CA302D5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834AA-EACA-4E77-9453-83DDF7EC92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617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8B46E-9086-E2B0-1FCA-864F1B894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85DD5B-3C74-9322-AFF3-68AA7975E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2F2FE-9A53-38B4-87E6-0897573B6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4F5FF-D664-4BB5-BF08-CF440CD81D8E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978B3-CB06-79A0-CD8E-C02602CB9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5C939-0732-317F-04CA-21A356B33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834AA-EACA-4E77-9453-83DDF7EC92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306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76DF3-CD8B-8FA0-5244-99F8624F4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B0877-E85E-F6BF-6A35-170F586AB9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45FAB6-56A6-044C-BF30-FE1389EBB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E3DEF-E1D5-35FE-80A3-169286E69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4F5FF-D664-4BB5-BF08-CF440CD81D8E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155CD-C3C7-BC0B-2071-0EF897744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60B7D-07C6-A163-2CDD-AB7B8FA2A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834AA-EACA-4E77-9453-83DDF7EC92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439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EAC00-1A1C-7ADF-D39A-A2A399B25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E4CD8-5901-F912-0BE5-8F326EB5E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B8DB43-0F4C-BB07-899E-72DE226398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342CB5-39ED-3E16-F0BC-DE82CCC4FD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072F8A-7B78-2A86-1C5C-08C172FCAD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4F969C-410E-16CA-06E3-69F5C04D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4F5FF-D664-4BB5-BF08-CF440CD81D8E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F323C2-665F-3F69-93AB-48FE7EA5C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237D64-CB3F-DBAB-6F1E-CDF38E854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834AA-EACA-4E77-9453-83DDF7EC92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036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09BD0-BB4C-DEB6-20FC-6C0DC73EB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E4DDAE-6F7E-7E49-85F0-099C53951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4F5FF-D664-4BB5-BF08-CF440CD81D8E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00F988-B25E-B4EE-28EE-CA09FCC74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228E5-0BC6-6E3D-6C65-1BBF712BE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834AA-EACA-4E77-9453-83DDF7EC92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947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04C85C-2E47-80E3-59A9-797E5DA8B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4F5FF-D664-4BB5-BF08-CF440CD81D8E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E4CC62-44E1-2EB7-4600-66C1558D1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654AE-F372-C1BA-6C87-E071F1A22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834AA-EACA-4E77-9453-83DDF7EC92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450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58A81-282A-FBC9-7B3B-61CC25556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FBB04-1732-B063-441F-4EC22C8AB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CDC12E-80FE-A894-73EF-F027E7189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43254B-244D-4138-4F29-2CED910B3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4F5FF-D664-4BB5-BF08-CF440CD81D8E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380566-E4F0-B90E-4DE4-4382B39F0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D6E095-E90E-EE87-5E2A-516C4E12F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834AA-EACA-4E77-9453-83DDF7EC92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879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0B4C6-0CBD-3E7E-E690-3D896DB09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728B9B-4D3E-2AE2-3580-AA559FCF2E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33DADA-6E44-1763-67CB-9BE25F4E88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1289AC-546E-F8FE-9A27-AFF2B4F2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4F5FF-D664-4BB5-BF08-CF440CD81D8E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AE0966-2A68-397B-9950-DBC10474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48E36-990E-1D83-CF4A-2A2B7875B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834AA-EACA-4E77-9453-83DDF7EC92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970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04DB3-028D-BB56-7A0C-D69657FFC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4F30E2-4E6D-0D63-979E-7CA6F44A4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089F-F162-D00A-660E-645D324F1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4F5FF-D664-4BB5-BF08-CF440CD81D8E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99E69-DB77-8E14-399D-7DFCAC020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B5622-02A1-8595-6268-EEBC85F53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834AA-EACA-4E77-9453-83DDF7EC92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842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FF49D6-72B4-AA12-DFF8-6C642377EC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0713FA-B3D7-A957-2899-74E7814255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47D89-4471-BFEB-CB0A-A60A6BEB0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4F5FF-D664-4BB5-BF08-CF440CD81D8E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74EEF-2BD0-1FCF-8419-ADABC8DC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E7562-FD6C-69E8-CA44-352B9586B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834AA-EACA-4E77-9453-83DDF7EC92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0499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5574" y="6459321"/>
            <a:ext cx="1429124" cy="34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69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D094BD-CAE4-7C76-EB60-F337EB318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DAE63-51A5-BF31-D214-BCC2280CF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50EE5-076E-D7DB-2065-6DBE35C179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34F5FF-D664-4BB5-BF08-CF440CD81D8E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1DCBD-4F43-A8C1-1AEB-27B7ADB145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AC0BF-379D-7F00-B71D-90EC48120D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834AA-EACA-4E77-9453-83DDF7EC92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4595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0"/>
            <a:ext cx="480060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93" y="2295525"/>
            <a:ext cx="6297017" cy="1181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3667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Customer Shopping Behavior Analysis</a:t>
            </a:r>
            <a:endParaRPr lang="en-US" sz="3667" dirty="0"/>
          </a:p>
        </p:txBody>
      </p:sp>
      <p:sp>
        <p:nvSpPr>
          <p:cNvPr id="4" name="Text 1"/>
          <p:cNvSpPr/>
          <p:nvPr/>
        </p:nvSpPr>
        <p:spPr>
          <a:xfrm>
            <a:off x="661493" y="3760292"/>
            <a:ext cx="690661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Data Analysis Report — Kesar Deaulkar</a:t>
            </a:r>
            <a:endParaRPr lang="en-US" sz="1467" dirty="0"/>
          </a:p>
        </p:txBody>
      </p:sp>
      <p:sp>
        <p:nvSpPr>
          <p:cNvPr id="5" name="Shape 2"/>
          <p:cNvSpPr/>
          <p:nvPr/>
        </p:nvSpPr>
        <p:spPr>
          <a:xfrm>
            <a:off x="661493" y="4275336"/>
            <a:ext cx="851892" cy="287139"/>
          </a:xfrm>
          <a:prstGeom prst="roundRect">
            <a:avLst>
              <a:gd name="adj" fmla="val 50000"/>
            </a:avLst>
          </a:prstGeom>
          <a:noFill/>
          <a:ln w="4763">
            <a:solidFill>
              <a:srgbClr val="626C3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4899" y="4331990"/>
            <a:ext cx="123467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96000"/>
              </a:lnSpc>
            </a:pPr>
            <a:r>
              <a:rPr lang="en-US" sz="1133" dirty="0">
                <a:solidFill>
                  <a:srgbClr val="626C3B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PYTHON</a:t>
            </a:r>
            <a:endParaRPr lang="en-US" sz="1133" dirty="0"/>
          </a:p>
        </p:txBody>
      </p:sp>
      <p:sp>
        <p:nvSpPr>
          <p:cNvPr id="7" name="Shape 4"/>
          <p:cNvSpPr/>
          <p:nvPr/>
        </p:nvSpPr>
        <p:spPr>
          <a:xfrm>
            <a:off x="1607841" y="4275336"/>
            <a:ext cx="1149548" cy="287139"/>
          </a:xfrm>
          <a:prstGeom prst="roundRect">
            <a:avLst>
              <a:gd name="adj" fmla="val 50000"/>
            </a:avLst>
          </a:prstGeom>
          <a:noFill/>
          <a:ln w="4763">
            <a:solidFill>
              <a:srgbClr val="626C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721247" y="4331990"/>
            <a:ext cx="153233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96000"/>
              </a:lnSpc>
            </a:pPr>
            <a:r>
              <a:rPr lang="en-US" sz="1133" dirty="0">
                <a:solidFill>
                  <a:srgbClr val="626C3B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SQL SERVER</a:t>
            </a:r>
            <a:endParaRPr lang="en-US" sz="1133" dirty="0"/>
          </a:p>
        </p:txBody>
      </p:sp>
      <p:sp>
        <p:nvSpPr>
          <p:cNvPr id="9" name="Shape 6"/>
          <p:cNvSpPr/>
          <p:nvPr/>
        </p:nvSpPr>
        <p:spPr>
          <a:xfrm>
            <a:off x="2851844" y="4275336"/>
            <a:ext cx="973336" cy="287139"/>
          </a:xfrm>
          <a:prstGeom prst="roundRect">
            <a:avLst>
              <a:gd name="adj" fmla="val 50000"/>
            </a:avLst>
          </a:prstGeom>
          <a:noFill/>
          <a:ln w="4763">
            <a:solidFill>
              <a:srgbClr val="626C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65253" y="4331990"/>
            <a:ext cx="135612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96000"/>
              </a:lnSpc>
            </a:pPr>
            <a:r>
              <a:rPr lang="en-US" sz="1133" dirty="0">
                <a:solidFill>
                  <a:srgbClr val="626C3B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POWER BI</a:t>
            </a:r>
            <a:endParaRPr lang="en-US" sz="113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60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493" y="1190725"/>
            <a:ext cx="629701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667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Executive Summary</a:t>
            </a:r>
            <a:endParaRPr lang="en-US" sz="3667" dirty="0"/>
          </a:p>
        </p:txBody>
      </p:sp>
      <p:sp>
        <p:nvSpPr>
          <p:cNvPr id="4" name="Shape 1"/>
          <p:cNvSpPr/>
          <p:nvPr/>
        </p:nvSpPr>
        <p:spPr>
          <a:xfrm>
            <a:off x="5233493" y="2064841"/>
            <a:ext cx="3053953" cy="2009080"/>
          </a:xfrm>
          <a:prstGeom prst="roundRect">
            <a:avLst>
              <a:gd name="adj" fmla="val 14113"/>
            </a:avLst>
          </a:prstGeom>
          <a:solidFill>
            <a:srgbClr val="626C3B"/>
          </a:solidFill>
          <a:ln w="4763">
            <a:solidFill>
              <a:srgbClr val="7B855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8854" y="2260203"/>
            <a:ext cx="26632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Purpose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428854" y="2668885"/>
            <a:ext cx="266322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Analyze purchasing trends, revenue, discounts, subscriptions &amp; product performance</a:t>
            </a:r>
            <a:endParaRPr lang="en-US" sz="1467" dirty="0"/>
          </a:p>
        </p:txBody>
      </p:sp>
      <p:sp>
        <p:nvSpPr>
          <p:cNvPr id="7" name="Shape 4"/>
          <p:cNvSpPr/>
          <p:nvPr/>
        </p:nvSpPr>
        <p:spPr>
          <a:xfrm>
            <a:off x="8476457" y="2064841"/>
            <a:ext cx="3054052" cy="2009080"/>
          </a:xfrm>
          <a:prstGeom prst="roundRect">
            <a:avLst>
              <a:gd name="adj" fmla="val 14113"/>
            </a:avLst>
          </a:prstGeom>
          <a:solidFill>
            <a:srgbClr val="83792E"/>
          </a:solidFill>
          <a:ln w="4763">
            <a:solidFill>
              <a:srgbClr val="9C92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71818" y="2260203"/>
            <a:ext cx="26633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Approach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671818" y="2668885"/>
            <a:ext cx="266332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Python cleaning → SQL querying → Power BI dashboards</a:t>
            </a:r>
            <a:endParaRPr lang="en-US" sz="1467" dirty="0"/>
          </a:p>
        </p:txBody>
      </p:sp>
      <p:sp>
        <p:nvSpPr>
          <p:cNvPr id="10" name="Shape 7"/>
          <p:cNvSpPr/>
          <p:nvPr/>
        </p:nvSpPr>
        <p:spPr>
          <a:xfrm>
            <a:off x="5233493" y="4262933"/>
            <a:ext cx="6297017" cy="1404243"/>
          </a:xfrm>
          <a:prstGeom prst="roundRect">
            <a:avLst>
              <a:gd name="adj" fmla="val 20191"/>
            </a:avLst>
          </a:prstGeom>
          <a:solidFill>
            <a:srgbClr val="E8AF3B"/>
          </a:solidFill>
          <a:ln w="4763">
            <a:solidFill>
              <a:srgbClr val="CE952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8854" y="4458295"/>
            <a:ext cx="590629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000000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Impact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428854" y="4866978"/>
            <a:ext cx="5906293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Improve marketing, optimize inventory, personalize experiences, grow revenue</a:t>
            </a:r>
            <a:endParaRPr lang="en-US" sz="146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3" y="1290837"/>
            <a:ext cx="1086901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667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Project Objectives</a:t>
            </a:r>
            <a:endParaRPr lang="en-US" sz="3667" dirty="0"/>
          </a:p>
        </p:txBody>
      </p:sp>
      <p:sp>
        <p:nvSpPr>
          <p:cNvPr id="3" name="Text 1"/>
          <p:cNvSpPr/>
          <p:nvPr/>
        </p:nvSpPr>
        <p:spPr>
          <a:xfrm>
            <a:off x="661492" y="2259508"/>
            <a:ext cx="37802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67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01</a:t>
            </a:r>
            <a:endParaRPr lang="en-US" sz="1467" dirty="0"/>
          </a:p>
        </p:txBody>
      </p:sp>
      <p:sp>
        <p:nvSpPr>
          <p:cNvPr id="4" name="Shape 2"/>
          <p:cNvSpPr/>
          <p:nvPr/>
        </p:nvSpPr>
        <p:spPr>
          <a:xfrm>
            <a:off x="661492" y="2555379"/>
            <a:ext cx="3496965" cy="25400"/>
          </a:xfrm>
          <a:prstGeom prst="rect">
            <a:avLst/>
          </a:prstGeom>
          <a:solidFill>
            <a:srgbClr val="626C3B"/>
          </a:solidFill>
          <a:ln/>
        </p:spPr>
      </p:sp>
      <p:sp>
        <p:nvSpPr>
          <p:cNvPr id="5" name="Text 3"/>
          <p:cNvSpPr/>
          <p:nvPr/>
        </p:nvSpPr>
        <p:spPr>
          <a:xfrm>
            <a:off x="661492" y="2700635"/>
            <a:ext cx="34969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Analyze purchasing behavior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47468" y="2259508"/>
            <a:ext cx="37802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67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02</a:t>
            </a:r>
            <a:endParaRPr lang="en-US" sz="1467" dirty="0"/>
          </a:p>
        </p:txBody>
      </p:sp>
      <p:sp>
        <p:nvSpPr>
          <p:cNvPr id="7" name="Shape 5"/>
          <p:cNvSpPr/>
          <p:nvPr/>
        </p:nvSpPr>
        <p:spPr>
          <a:xfrm>
            <a:off x="4347468" y="2555379"/>
            <a:ext cx="3496965" cy="25400"/>
          </a:xfrm>
          <a:prstGeom prst="rect">
            <a:avLst/>
          </a:prstGeom>
          <a:solidFill>
            <a:srgbClr val="83792E"/>
          </a:solidFill>
          <a:ln/>
        </p:spPr>
      </p:sp>
      <p:sp>
        <p:nvSpPr>
          <p:cNvPr id="8" name="Text 6"/>
          <p:cNvSpPr/>
          <p:nvPr/>
        </p:nvSpPr>
        <p:spPr>
          <a:xfrm>
            <a:off x="4347468" y="2700635"/>
            <a:ext cx="34969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Revenue by customer segment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33444" y="2259508"/>
            <a:ext cx="37802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67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03</a:t>
            </a:r>
            <a:endParaRPr lang="en-US" sz="1467" dirty="0"/>
          </a:p>
        </p:txBody>
      </p:sp>
      <p:sp>
        <p:nvSpPr>
          <p:cNvPr id="10" name="Shape 8"/>
          <p:cNvSpPr/>
          <p:nvPr/>
        </p:nvSpPr>
        <p:spPr>
          <a:xfrm>
            <a:off x="8033444" y="2555379"/>
            <a:ext cx="3496965" cy="25400"/>
          </a:xfrm>
          <a:prstGeom prst="rect">
            <a:avLst/>
          </a:prstGeom>
          <a:solidFill>
            <a:srgbClr val="E8AF3B"/>
          </a:solidFill>
          <a:ln/>
        </p:spPr>
      </p:sp>
      <p:sp>
        <p:nvSpPr>
          <p:cNvPr id="11" name="Text 9"/>
          <p:cNvSpPr/>
          <p:nvPr/>
        </p:nvSpPr>
        <p:spPr>
          <a:xfrm>
            <a:off x="8033444" y="2700635"/>
            <a:ext cx="34969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Discount impact evaluation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1492" y="3326607"/>
            <a:ext cx="37802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67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04</a:t>
            </a:r>
            <a:endParaRPr lang="en-US" sz="1467" dirty="0"/>
          </a:p>
        </p:txBody>
      </p:sp>
      <p:sp>
        <p:nvSpPr>
          <p:cNvPr id="13" name="Shape 11"/>
          <p:cNvSpPr/>
          <p:nvPr/>
        </p:nvSpPr>
        <p:spPr>
          <a:xfrm>
            <a:off x="661492" y="3622476"/>
            <a:ext cx="3496965" cy="25400"/>
          </a:xfrm>
          <a:prstGeom prst="rect">
            <a:avLst/>
          </a:prstGeom>
          <a:solidFill>
            <a:srgbClr val="CC914D"/>
          </a:solidFill>
          <a:ln/>
        </p:spPr>
      </p:sp>
      <p:sp>
        <p:nvSpPr>
          <p:cNvPr id="14" name="Text 12"/>
          <p:cNvSpPr/>
          <p:nvPr/>
        </p:nvSpPr>
        <p:spPr>
          <a:xfrm>
            <a:off x="661492" y="3767734"/>
            <a:ext cx="3496965" cy="590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Subscriber vs non-subscriber spend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347468" y="3326607"/>
            <a:ext cx="37802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67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05</a:t>
            </a:r>
            <a:endParaRPr lang="en-US" sz="1467" dirty="0"/>
          </a:p>
        </p:txBody>
      </p:sp>
      <p:sp>
        <p:nvSpPr>
          <p:cNvPr id="16" name="Shape 14"/>
          <p:cNvSpPr/>
          <p:nvPr/>
        </p:nvSpPr>
        <p:spPr>
          <a:xfrm>
            <a:off x="4347468" y="3622476"/>
            <a:ext cx="3496965" cy="25400"/>
          </a:xfrm>
          <a:prstGeom prst="rect">
            <a:avLst/>
          </a:prstGeom>
          <a:solidFill>
            <a:srgbClr val="626C3B"/>
          </a:solidFill>
          <a:ln/>
        </p:spPr>
      </p:sp>
      <p:sp>
        <p:nvSpPr>
          <p:cNvPr id="17" name="Text 15"/>
          <p:cNvSpPr/>
          <p:nvPr/>
        </p:nvSpPr>
        <p:spPr>
          <a:xfrm>
            <a:off x="4347468" y="3767733"/>
            <a:ext cx="34969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Top-rated &amp; frequent products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033444" y="3326607"/>
            <a:ext cx="37802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67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06</a:t>
            </a:r>
            <a:endParaRPr lang="en-US" sz="1467" dirty="0"/>
          </a:p>
        </p:txBody>
      </p:sp>
      <p:sp>
        <p:nvSpPr>
          <p:cNvPr id="19" name="Shape 17"/>
          <p:cNvSpPr/>
          <p:nvPr/>
        </p:nvSpPr>
        <p:spPr>
          <a:xfrm>
            <a:off x="8033444" y="3622476"/>
            <a:ext cx="3496965" cy="25400"/>
          </a:xfrm>
          <a:prstGeom prst="rect">
            <a:avLst/>
          </a:prstGeom>
          <a:solidFill>
            <a:srgbClr val="83792E"/>
          </a:solidFill>
          <a:ln/>
        </p:spPr>
      </p:sp>
      <p:sp>
        <p:nvSpPr>
          <p:cNvPr id="20" name="Text 18"/>
          <p:cNvSpPr/>
          <p:nvPr/>
        </p:nvSpPr>
        <p:spPr>
          <a:xfrm>
            <a:off x="8033444" y="3767733"/>
            <a:ext cx="34969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Customer loyalty patterns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61492" y="4688979"/>
            <a:ext cx="37802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67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07</a:t>
            </a:r>
            <a:endParaRPr lang="en-US" sz="1467" dirty="0"/>
          </a:p>
        </p:txBody>
      </p:sp>
      <p:sp>
        <p:nvSpPr>
          <p:cNvPr id="22" name="Shape 20"/>
          <p:cNvSpPr/>
          <p:nvPr/>
        </p:nvSpPr>
        <p:spPr>
          <a:xfrm>
            <a:off x="661492" y="4984849"/>
            <a:ext cx="10868917" cy="25400"/>
          </a:xfrm>
          <a:prstGeom prst="rect">
            <a:avLst/>
          </a:prstGeom>
          <a:solidFill>
            <a:srgbClr val="E8AF3B"/>
          </a:solidFill>
          <a:ln/>
        </p:spPr>
      </p:sp>
      <p:sp>
        <p:nvSpPr>
          <p:cNvPr id="23" name="Text 21"/>
          <p:cNvSpPr/>
          <p:nvPr/>
        </p:nvSpPr>
        <p:spPr>
          <a:xfrm>
            <a:off x="661492" y="5130105"/>
            <a:ext cx="1086891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Interactive dashboard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92" y="1484511"/>
            <a:ext cx="6913563" cy="388887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13602" y="782738"/>
            <a:ext cx="832445" cy="269180"/>
          </a:xfrm>
          <a:prstGeom prst="roundRect">
            <a:avLst>
              <a:gd name="adj" fmla="val 50000"/>
            </a:avLst>
          </a:prstGeom>
          <a:solidFill>
            <a:srgbClr val="EAEDDE"/>
          </a:solidFill>
          <a:ln/>
        </p:spPr>
      </p:sp>
      <p:sp>
        <p:nvSpPr>
          <p:cNvPr id="4" name="Text 1"/>
          <p:cNvSpPr/>
          <p:nvPr/>
        </p:nvSpPr>
        <p:spPr>
          <a:xfrm>
            <a:off x="8119865" y="835819"/>
            <a:ext cx="1229519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96000"/>
              </a:lnSpc>
            </a:pPr>
            <a:r>
              <a:rPr lang="en-US" sz="1067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DATASET</a:t>
            </a:r>
            <a:endParaRPr lang="en-US" sz="1067" dirty="0"/>
          </a:p>
        </p:txBody>
      </p:sp>
      <p:sp>
        <p:nvSpPr>
          <p:cNvPr id="5" name="Text 2"/>
          <p:cNvSpPr/>
          <p:nvPr/>
        </p:nvSpPr>
        <p:spPr>
          <a:xfrm>
            <a:off x="8013602" y="1118295"/>
            <a:ext cx="3523159" cy="110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3467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3,900 Records · 18 Attributes</a:t>
            </a:r>
            <a:endParaRPr lang="en-US" sz="3467" dirty="0"/>
          </a:p>
        </p:txBody>
      </p:sp>
      <p:sp>
        <p:nvSpPr>
          <p:cNvPr id="6" name="Shape 3"/>
          <p:cNvSpPr/>
          <p:nvPr/>
        </p:nvSpPr>
        <p:spPr>
          <a:xfrm>
            <a:off x="8013602" y="2412603"/>
            <a:ext cx="3523159" cy="1110159"/>
          </a:xfrm>
          <a:prstGeom prst="roundRect">
            <a:avLst>
              <a:gd name="adj" fmla="val 23944"/>
            </a:avLst>
          </a:prstGeom>
          <a:solidFill>
            <a:srgbClr val="F6EBD4"/>
          </a:solidFill>
          <a:ln w="14288">
            <a:solidFill>
              <a:srgbClr val="626C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09857" y="2608857"/>
            <a:ext cx="313064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Demographics</a:t>
            </a:r>
            <a:endParaRPr lang="en-US" sz="1733" dirty="0"/>
          </a:p>
        </p:txBody>
      </p:sp>
      <p:sp>
        <p:nvSpPr>
          <p:cNvPr id="8" name="Text 5"/>
          <p:cNvSpPr/>
          <p:nvPr/>
        </p:nvSpPr>
        <p:spPr>
          <a:xfrm>
            <a:off x="8209857" y="3051870"/>
            <a:ext cx="3130649" cy="274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9000"/>
              </a:lnSpc>
            </a:pPr>
            <a:r>
              <a:rPr lang="en-US" sz="1333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Age, Gender, Location</a:t>
            </a:r>
            <a:endParaRPr lang="en-US" sz="1333" dirty="0"/>
          </a:p>
        </p:txBody>
      </p:sp>
      <p:sp>
        <p:nvSpPr>
          <p:cNvPr id="9" name="Shape 6"/>
          <p:cNvSpPr/>
          <p:nvPr/>
        </p:nvSpPr>
        <p:spPr>
          <a:xfrm>
            <a:off x="8013602" y="3688854"/>
            <a:ext cx="3523159" cy="1110159"/>
          </a:xfrm>
          <a:prstGeom prst="roundRect">
            <a:avLst>
              <a:gd name="adj" fmla="val 23944"/>
            </a:avLst>
          </a:prstGeom>
          <a:solidFill>
            <a:srgbClr val="F6EBD4"/>
          </a:solidFill>
          <a:ln w="14288">
            <a:solidFill>
              <a:srgbClr val="8379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09857" y="3885108"/>
            <a:ext cx="313064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Purchase</a:t>
            </a:r>
            <a:endParaRPr lang="en-US" sz="1733" dirty="0"/>
          </a:p>
        </p:txBody>
      </p:sp>
      <p:sp>
        <p:nvSpPr>
          <p:cNvPr id="11" name="Text 8"/>
          <p:cNvSpPr/>
          <p:nvPr/>
        </p:nvSpPr>
        <p:spPr>
          <a:xfrm>
            <a:off x="8209857" y="4328120"/>
            <a:ext cx="3130649" cy="274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9000"/>
              </a:lnSpc>
            </a:pPr>
            <a:r>
              <a:rPr lang="en-US" sz="1333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Amount, Category, Item</a:t>
            </a:r>
            <a:endParaRPr lang="en-US" sz="1333" dirty="0"/>
          </a:p>
        </p:txBody>
      </p:sp>
      <p:sp>
        <p:nvSpPr>
          <p:cNvPr id="12" name="Shape 9"/>
          <p:cNvSpPr/>
          <p:nvPr/>
        </p:nvSpPr>
        <p:spPr>
          <a:xfrm>
            <a:off x="8013602" y="4965106"/>
            <a:ext cx="3523159" cy="1110159"/>
          </a:xfrm>
          <a:prstGeom prst="roundRect">
            <a:avLst>
              <a:gd name="adj" fmla="val 23944"/>
            </a:avLst>
          </a:prstGeom>
          <a:solidFill>
            <a:srgbClr val="F6EBD4"/>
          </a:solidFill>
          <a:ln w="14288">
            <a:solidFill>
              <a:srgbClr val="E8AF3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09857" y="5161360"/>
            <a:ext cx="313064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733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Behavior</a:t>
            </a:r>
            <a:endParaRPr lang="en-US" sz="1733" dirty="0"/>
          </a:p>
        </p:txBody>
      </p:sp>
      <p:sp>
        <p:nvSpPr>
          <p:cNvPr id="14" name="Text 11"/>
          <p:cNvSpPr/>
          <p:nvPr/>
        </p:nvSpPr>
        <p:spPr>
          <a:xfrm>
            <a:off x="8209857" y="5604371"/>
            <a:ext cx="3130649" cy="274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9000"/>
              </a:lnSpc>
            </a:pPr>
            <a:r>
              <a:rPr lang="en-US" sz="1333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Frequency, Reviews, Subscription</a:t>
            </a:r>
            <a:endParaRPr lang="en-US" sz="133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3" y="788790"/>
            <a:ext cx="1086901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667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Data Preprocessing (Python)</a:t>
            </a:r>
            <a:endParaRPr lang="en-US" sz="3667" dirty="0"/>
          </a:p>
        </p:txBody>
      </p:sp>
      <p:sp>
        <p:nvSpPr>
          <p:cNvPr id="3" name="Text 1"/>
          <p:cNvSpPr/>
          <p:nvPr/>
        </p:nvSpPr>
        <p:spPr>
          <a:xfrm>
            <a:off x="661493" y="1851917"/>
            <a:ext cx="52039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Data Cleaning</a:t>
            </a: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34" y="2369245"/>
            <a:ext cx="283468" cy="2834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75755" y="2359819"/>
            <a:ext cx="4589661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Loaded via Pandas, checked structure &amp; missing values</a:t>
            </a:r>
            <a:endParaRPr lang="en-US" sz="1467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34" y="3352106"/>
            <a:ext cx="283468" cy="283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5755" y="3342680"/>
            <a:ext cx="458966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Median-filled Review Ratings by category</a:t>
            </a:r>
            <a:endParaRPr lang="en-US" sz="1467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2334" y="4306590"/>
            <a:ext cx="283468" cy="2834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75755" y="4297164"/>
            <a:ext cx="4589661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Lowercase columns, replaced spaces with underscores</a:t>
            </a:r>
            <a:endParaRPr lang="en-US" sz="1467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2334" y="5289451"/>
            <a:ext cx="283468" cy="2834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75755" y="5280025"/>
            <a:ext cx="458966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Removed redundant </a:t>
            </a:r>
            <a:r>
              <a:rPr lang="en-US" sz="1467" b="1" dirty="0">
                <a:solidFill>
                  <a:srgbClr val="403011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Promo Code Used</a:t>
            </a:r>
            <a:r>
              <a:rPr lang="en-US" sz="1467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column</a:t>
            </a:r>
            <a:endParaRPr lang="en-US" sz="1467" dirty="0"/>
          </a:p>
        </p:txBody>
      </p:sp>
      <p:sp>
        <p:nvSpPr>
          <p:cNvPr id="12" name="Text 6"/>
          <p:cNvSpPr/>
          <p:nvPr/>
        </p:nvSpPr>
        <p:spPr>
          <a:xfrm>
            <a:off x="6332935" y="1851917"/>
            <a:ext cx="52039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Feature Engineering</a:t>
            </a:r>
            <a:endParaRPr lang="en-US" dirty="0"/>
          </a:p>
        </p:txBody>
      </p:sp>
      <p:sp>
        <p:nvSpPr>
          <p:cNvPr id="13" name="Shape 7"/>
          <p:cNvSpPr/>
          <p:nvPr/>
        </p:nvSpPr>
        <p:spPr>
          <a:xfrm>
            <a:off x="6332935" y="2359819"/>
            <a:ext cx="2507456" cy="1782267"/>
          </a:xfrm>
          <a:prstGeom prst="roundRect">
            <a:avLst>
              <a:gd name="adj" fmla="val 15909"/>
            </a:avLst>
          </a:prstGeom>
          <a:solidFill>
            <a:srgbClr val="626C3B"/>
          </a:solidFill>
          <a:ln w="4763">
            <a:solidFill>
              <a:srgbClr val="7B8554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6528296" y="2555180"/>
            <a:ext cx="21167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Age Group</a:t>
            </a: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6528296" y="3039467"/>
            <a:ext cx="2116733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Young Adult · Adult · Middle-aged · Senior</a:t>
            </a:r>
            <a:endParaRPr lang="en-US" sz="1467" dirty="0"/>
          </a:p>
        </p:txBody>
      </p:sp>
      <p:sp>
        <p:nvSpPr>
          <p:cNvPr id="16" name="Shape 10"/>
          <p:cNvSpPr/>
          <p:nvPr/>
        </p:nvSpPr>
        <p:spPr>
          <a:xfrm>
            <a:off x="9029403" y="2359819"/>
            <a:ext cx="2507456" cy="1782267"/>
          </a:xfrm>
          <a:prstGeom prst="roundRect">
            <a:avLst>
              <a:gd name="adj" fmla="val 15909"/>
            </a:avLst>
          </a:prstGeom>
          <a:solidFill>
            <a:srgbClr val="83792E"/>
          </a:solidFill>
          <a:ln w="4763">
            <a:solidFill>
              <a:srgbClr val="9C9247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9224764" y="2555180"/>
            <a:ext cx="21167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Frequency (Days)</a:t>
            </a:r>
            <a:endParaRPr lang="en-US" dirty="0"/>
          </a:p>
        </p:txBody>
      </p:sp>
      <p:sp>
        <p:nvSpPr>
          <p:cNvPr id="18" name="Text 12"/>
          <p:cNvSpPr/>
          <p:nvPr/>
        </p:nvSpPr>
        <p:spPr>
          <a:xfrm>
            <a:off x="9224764" y="3039467"/>
            <a:ext cx="211673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Weekly=7 · Fortnightly=14 · Monthly=30</a:t>
            </a:r>
            <a:endParaRPr lang="en-US" sz="146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3" y="1054696"/>
            <a:ext cx="1086901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667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SQL Business Analysis</a:t>
            </a:r>
            <a:endParaRPr lang="en-US" sz="3667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92" y="2023368"/>
            <a:ext cx="378024" cy="3780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92" y="2637631"/>
            <a:ext cx="34655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Revenue by Gender</a:t>
            </a:r>
            <a:endParaRPr lang="en-US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244" y="2023368"/>
            <a:ext cx="378024" cy="37802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63244" y="2637631"/>
            <a:ext cx="3465512" cy="590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High-Spending Discount Customers</a:t>
            </a:r>
            <a:endParaRPr lang="en-US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996" y="2023368"/>
            <a:ext cx="378024" cy="37802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064996" y="2637631"/>
            <a:ext cx="34655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Top 5 Rated Products</a:t>
            </a:r>
            <a:endParaRPr lang="en-US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92" y="3606205"/>
            <a:ext cx="378024" cy="37802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61492" y="4220468"/>
            <a:ext cx="34655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Shipping Analysis</a:t>
            </a:r>
            <a:endParaRPr lang="en-US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63244" y="3606205"/>
            <a:ext cx="378024" cy="37802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363244" y="4220468"/>
            <a:ext cx="34655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Subscriber vs Non-Subscriber</a:t>
            </a:r>
            <a:endParaRPr lang="en-US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64996" y="3606205"/>
            <a:ext cx="378024" cy="378024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064996" y="4220468"/>
            <a:ext cx="34655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Customer Segmentation</a:t>
            </a:r>
            <a:endParaRPr lang="en-US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92" y="4893767"/>
            <a:ext cx="378024" cy="378024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661492" y="5508029"/>
            <a:ext cx="34655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Top Products by Category</a:t>
            </a:r>
            <a:endParaRPr lang="en-US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63244" y="4893767"/>
            <a:ext cx="378024" cy="378024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4363244" y="5508029"/>
            <a:ext cx="34655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Repeat Buyer Subscription</a:t>
            </a:r>
            <a:endParaRPr lang="en-US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64996" y="4893767"/>
            <a:ext cx="378024" cy="378024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8064996" y="5508029"/>
            <a:ext cx="34655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Revenue by Age Group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3" y="530622"/>
            <a:ext cx="1086901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667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Customer Segmentation</a:t>
            </a:r>
            <a:endParaRPr lang="en-US" sz="3667" dirty="0"/>
          </a:p>
        </p:txBody>
      </p:sp>
      <p:sp>
        <p:nvSpPr>
          <p:cNvPr id="3" name="Text 1"/>
          <p:cNvSpPr/>
          <p:nvPr/>
        </p:nvSpPr>
        <p:spPr>
          <a:xfrm>
            <a:off x="661493" y="3563540"/>
            <a:ext cx="5203924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Customers classified by previous purchase count to support targeted marketing.</a:t>
            </a:r>
            <a:endParaRPr lang="en-US" sz="1467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935" y="1617365"/>
            <a:ext cx="4497288" cy="44972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60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493" y="564952"/>
            <a:ext cx="6297017" cy="5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6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Power BI Dashboard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233493" y="1421111"/>
            <a:ext cx="6297017" cy="1080592"/>
          </a:xfrm>
          <a:prstGeom prst="roundRect">
            <a:avLst>
              <a:gd name="adj" fmla="val 25829"/>
            </a:avLst>
          </a:prstGeom>
          <a:solidFill>
            <a:srgbClr val="626C3B"/>
          </a:solidFill>
          <a:ln w="4763">
            <a:solidFill>
              <a:srgbClr val="7B855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5877" y="1613495"/>
            <a:ext cx="5912247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Revenue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425877" y="2014041"/>
            <a:ext cx="59122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2000"/>
              </a:lnSpc>
            </a:pPr>
            <a:r>
              <a:rPr lang="en-US" sz="14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Overview, by Gender, by Age Group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233493" y="2684860"/>
            <a:ext cx="6297017" cy="1080592"/>
          </a:xfrm>
          <a:prstGeom prst="roundRect">
            <a:avLst>
              <a:gd name="adj" fmla="val 25829"/>
            </a:avLst>
          </a:prstGeom>
          <a:solidFill>
            <a:srgbClr val="83792E"/>
          </a:solidFill>
          <a:ln w="4763">
            <a:solidFill>
              <a:srgbClr val="9C92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25877" y="2877245"/>
            <a:ext cx="5912247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Customers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425877" y="3277791"/>
            <a:ext cx="59122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2000"/>
              </a:lnSpc>
            </a:pPr>
            <a:r>
              <a:rPr lang="en-US" sz="140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Distribution, Segmentation, Subscription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233493" y="3948608"/>
            <a:ext cx="6297017" cy="1080592"/>
          </a:xfrm>
          <a:prstGeom prst="roundRect">
            <a:avLst>
              <a:gd name="adj" fmla="val 25829"/>
            </a:avLst>
          </a:prstGeom>
          <a:solidFill>
            <a:srgbClr val="E8AF3B"/>
          </a:solidFill>
          <a:ln w="4763">
            <a:solidFill>
              <a:srgbClr val="CE952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5877" y="4140994"/>
            <a:ext cx="5912247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000000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Products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425877" y="4541540"/>
            <a:ext cx="59122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2000"/>
              </a:lnSpc>
            </a:pPr>
            <a:r>
              <a:rPr lang="en-US" sz="14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Category Performance, Ratings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233493" y="5212357"/>
            <a:ext cx="6297017" cy="1080592"/>
          </a:xfrm>
          <a:prstGeom prst="roundRect">
            <a:avLst>
              <a:gd name="adj" fmla="val 25829"/>
            </a:avLst>
          </a:prstGeom>
          <a:solidFill>
            <a:srgbClr val="CC914D"/>
          </a:solidFill>
          <a:ln w="4763">
            <a:solidFill>
              <a:srgbClr val="B277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25877" y="5404743"/>
            <a:ext cx="5912247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000000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Transactions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425877" y="5805289"/>
            <a:ext cx="59122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2000"/>
              </a:lnSpc>
            </a:pPr>
            <a:r>
              <a:rPr lang="en-US" sz="140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Shipping &amp; Discount Analysis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3" y="1743274"/>
            <a:ext cx="10869017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667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Key Insights &amp; Recommendations</a:t>
            </a:r>
            <a:endParaRPr lang="en-US" sz="3667" dirty="0"/>
          </a:p>
        </p:txBody>
      </p:sp>
      <p:sp>
        <p:nvSpPr>
          <p:cNvPr id="3" name="Text 1"/>
          <p:cNvSpPr/>
          <p:nvPr/>
        </p:nvSpPr>
        <p:spPr>
          <a:xfrm>
            <a:off x="661493" y="2806403"/>
            <a:ext cx="52039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Key Insights</a:t>
            </a: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092" y="3288903"/>
            <a:ext cx="2509243" cy="6556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1303" y="3314303"/>
            <a:ext cx="2244031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Spending differs across demographics</a:t>
            </a:r>
            <a:endParaRPr lang="en-US" sz="1467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6173" y="3288903"/>
            <a:ext cx="2509243" cy="65563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21386" y="3314303"/>
            <a:ext cx="2244031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Subscribers drive significant revenue</a:t>
            </a:r>
            <a:endParaRPr lang="en-US" sz="1467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092" y="4271764"/>
            <a:ext cx="2509243" cy="65563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01303" y="4297164"/>
            <a:ext cx="2244031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Loyal customers account for major purchases</a:t>
            </a:r>
            <a:endParaRPr lang="en-US" sz="1467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56173" y="4271764"/>
            <a:ext cx="2509243" cy="65563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621386" y="4297164"/>
            <a:ext cx="2244031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Discounts influence select products only</a:t>
            </a:r>
            <a:endParaRPr lang="en-US" sz="1467" dirty="0"/>
          </a:p>
        </p:txBody>
      </p:sp>
      <p:sp>
        <p:nvSpPr>
          <p:cNvPr id="12" name="Text 6"/>
          <p:cNvSpPr/>
          <p:nvPr/>
        </p:nvSpPr>
        <p:spPr>
          <a:xfrm>
            <a:off x="6332935" y="2806403"/>
            <a:ext cx="52039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Recommendations</a:t>
            </a:r>
            <a:endParaRPr lang="en-US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7535" y="3288903"/>
            <a:ext cx="2509243" cy="65563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572747" y="3314303"/>
            <a:ext cx="2244031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Target loyal &amp; returning customers</a:t>
            </a:r>
            <a:endParaRPr lang="en-US" sz="1467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7616" y="3288903"/>
            <a:ext cx="2509243" cy="655637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292829" y="3314303"/>
            <a:ext cx="2244031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Expand subscription programs</a:t>
            </a:r>
            <a:endParaRPr lang="en-US" sz="1467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7535" y="4271764"/>
            <a:ext cx="2509243" cy="655637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572747" y="4297164"/>
            <a:ext cx="2244031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Personalize by age &amp; history</a:t>
            </a:r>
            <a:endParaRPr lang="en-US" sz="1467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27616" y="4271764"/>
            <a:ext cx="2509243" cy="655637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9292829" y="4297164"/>
            <a:ext cx="2244031" cy="604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467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Reduce discounts on high-demand products</a:t>
            </a:r>
            <a:endParaRPr lang="en-US" sz="146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93" y="519807"/>
            <a:ext cx="1086901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Project Workflow &amp; Tech Stack</a:t>
            </a:r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93" y="909539"/>
            <a:ext cx="10869017" cy="47677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55401" y="4518570"/>
            <a:ext cx="1642712" cy="29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SQL Analysis</a:t>
            </a: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955401" y="4896361"/>
            <a:ext cx="1642712" cy="35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78000"/>
              </a:lnSpc>
            </a:pPr>
            <a:r>
              <a:rPr lang="en-US" sz="1467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Business queries and segmentation</a:t>
            </a:r>
            <a:endParaRPr lang="en-US" sz="1467" dirty="0"/>
          </a:p>
        </p:txBody>
      </p:sp>
      <p:sp>
        <p:nvSpPr>
          <p:cNvPr id="6" name="Text 3"/>
          <p:cNvSpPr/>
          <p:nvPr/>
        </p:nvSpPr>
        <p:spPr>
          <a:xfrm>
            <a:off x="9173909" y="4224440"/>
            <a:ext cx="1642712" cy="58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Business Insights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9173909" y="4896361"/>
            <a:ext cx="1642712" cy="35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78000"/>
              </a:lnSpc>
            </a:pPr>
            <a:r>
              <a:rPr lang="en-US" sz="1467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Recommendations and decisions</a:t>
            </a:r>
            <a:endParaRPr lang="en-US" sz="1467" dirty="0"/>
          </a:p>
        </p:txBody>
      </p:sp>
      <p:sp>
        <p:nvSpPr>
          <p:cNvPr id="8" name="Text 5"/>
          <p:cNvSpPr/>
          <p:nvPr/>
        </p:nvSpPr>
        <p:spPr>
          <a:xfrm>
            <a:off x="1403668" y="1338052"/>
            <a:ext cx="1642712" cy="58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Data Preparation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403668" y="2009973"/>
            <a:ext cx="1642712" cy="529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78000"/>
              </a:lnSpc>
            </a:pPr>
            <a:r>
              <a:rPr lang="en-US" sz="1467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Python cleaning and feature engineering</a:t>
            </a:r>
            <a:endParaRPr lang="en-US" sz="1467" dirty="0"/>
          </a:p>
        </p:txBody>
      </p:sp>
      <p:sp>
        <p:nvSpPr>
          <p:cNvPr id="10" name="Text 7"/>
          <p:cNvSpPr/>
          <p:nvPr/>
        </p:nvSpPr>
        <p:spPr>
          <a:xfrm>
            <a:off x="6601259" y="1338052"/>
            <a:ext cx="1642712" cy="58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Power BI Dashboard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601259" y="2009973"/>
            <a:ext cx="1642712" cy="529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78000"/>
              </a:lnSpc>
            </a:pPr>
            <a:r>
              <a:rPr lang="en-US" sz="1467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Interactive visualization and reports</a:t>
            </a:r>
            <a:endParaRPr lang="en-US" sz="1467" dirty="0"/>
          </a:p>
        </p:txBody>
      </p:sp>
      <p:sp>
        <p:nvSpPr>
          <p:cNvPr id="12" name="Text 9"/>
          <p:cNvSpPr/>
          <p:nvPr/>
        </p:nvSpPr>
        <p:spPr>
          <a:xfrm>
            <a:off x="661493" y="5730379"/>
            <a:ext cx="11478617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733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End-to-end analytics pipeline from raw data to actionable business recommendations.</a:t>
            </a:r>
            <a:endParaRPr lang="en-US" sz="733" dirty="0"/>
          </a:p>
        </p:txBody>
      </p:sp>
      <p:sp>
        <p:nvSpPr>
          <p:cNvPr id="13" name="Shape 10"/>
          <p:cNvSpPr/>
          <p:nvPr/>
        </p:nvSpPr>
        <p:spPr>
          <a:xfrm>
            <a:off x="661493" y="5896869"/>
            <a:ext cx="10869017" cy="490935"/>
          </a:xfrm>
          <a:prstGeom prst="roundRect">
            <a:avLst>
              <a:gd name="adj" fmla="val 28877"/>
            </a:avLst>
          </a:prstGeom>
          <a:solidFill>
            <a:srgbClr val="626C3B"/>
          </a:solidFill>
          <a:ln w="4763">
            <a:solidFill>
              <a:srgbClr val="7B855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67841" y="5903217"/>
            <a:ext cx="3618707" cy="478235"/>
          </a:xfrm>
          <a:custGeom>
            <a:avLst/>
            <a:gdLst/>
            <a:ahLst/>
            <a:cxnLst/>
            <a:rect l="l" t="t" r="r" b="b"/>
            <a:pathLst>
              <a:path w="2714030" h="358676">
                <a:moveTo>
                  <a:pt x="88605" y="0"/>
                </a:moveTo>
                <a:lnTo>
                  <a:pt x="2714030" y="0"/>
                </a:lnTo>
                <a:lnTo>
                  <a:pt x="2714030" y="358676"/>
                </a:lnTo>
                <a:lnTo>
                  <a:pt x="88605" y="358676"/>
                </a:lnTo>
                <a:arcTo wR="88605" hR="88605" stAng="5400000" swAng="5400000"/>
                <a:lnTo>
                  <a:pt x="0" y="88605"/>
                </a:lnTo>
                <a:arcTo wR="88605" hR="88605" stAng="10800000" swAng="5400000"/>
                <a:close/>
              </a:path>
            </a:pathLst>
          </a:custGeom>
          <a:solidFill>
            <a:srgbClr val="626C3B"/>
          </a:solidFill>
          <a:ln/>
        </p:spPr>
      </p:sp>
      <p:sp>
        <p:nvSpPr>
          <p:cNvPr id="15" name="Text 12"/>
          <p:cNvSpPr/>
          <p:nvPr/>
        </p:nvSpPr>
        <p:spPr>
          <a:xfrm>
            <a:off x="762298" y="5997675"/>
            <a:ext cx="3429793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867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Python · Pandas · NumPy</a:t>
            </a:r>
            <a:endParaRPr lang="en-US" sz="867" dirty="0"/>
          </a:p>
        </p:txBody>
      </p:sp>
      <p:sp>
        <p:nvSpPr>
          <p:cNvPr id="16" name="Text 13"/>
          <p:cNvSpPr/>
          <p:nvPr/>
        </p:nvSpPr>
        <p:spPr>
          <a:xfrm>
            <a:off x="762298" y="6173590"/>
            <a:ext cx="342979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733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Cleaning &amp; engineering</a:t>
            </a:r>
            <a:endParaRPr lang="en-US" sz="733" dirty="0"/>
          </a:p>
        </p:txBody>
      </p:sp>
      <p:sp>
        <p:nvSpPr>
          <p:cNvPr id="17" name="Shape 14"/>
          <p:cNvSpPr/>
          <p:nvPr/>
        </p:nvSpPr>
        <p:spPr>
          <a:xfrm>
            <a:off x="4286548" y="5903217"/>
            <a:ext cx="3618805" cy="478235"/>
          </a:xfrm>
          <a:prstGeom prst="rect">
            <a:avLst/>
          </a:prstGeom>
          <a:solidFill>
            <a:srgbClr val="626C3B"/>
          </a:solidFill>
          <a:ln/>
        </p:spPr>
      </p:sp>
      <p:sp>
        <p:nvSpPr>
          <p:cNvPr id="18" name="Shape 15"/>
          <p:cNvSpPr/>
          <p:nvPr/>
        </p:nvSpPr>
        <p:spPr>
          <a:xfrm>
            <a:off x="4286549" y="5903217"/>
            <a:ext cx="12700" cy="478235"/>
          </a:xfrm>
          <a:prstGeom prst="roundRect">
            <a:avLst>
              <a:gd name="adj" fmla="val 50000"/>
            </a:avLst>
          </a:prstGeom>
          <a:solidFill>
            <a:srgbClr val="9C9247"/>
          </a:solidFill>
          <a:ln/>
        </p:spPr>
      </p:sp>
      <p:sp>
        <p:nvSpPr>
          <p:cNvPr id="19" name="Text 16"/>
          <p:cNvSpPr/>
          <p:nvPr/>
        </p:nvSpPr>
        <p:spPr>
          <a:xfrm>
            <a:off x="4381004" y="5997675"/>
            <a:ext cx="3429893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867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SQL Server (SSMS)</a:t>
            </a:r>
            <a:endParaRPr lang="en-US" sz="867" dirty="0"/>
          </a:p>
        </p:txBody>
      </p:sp>
      <p:sp>
        <p:nvSpPr>
          <p:cNvPr id="20" name="Text 17"/>
          <p:cNvSpPr/>
          <p:nvPr/>
        </p:nvSpPr>
        <p:spPr>
          <a:xfrm>
            <a:off x="4381004" y="6173590"/>
            <a:ext cx="342989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733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Business queries</a:t>
            </a:r>
            <a:endParaRPr lang="en-US" sz="733" dirty="0"/>
          </a:p>
        </p:txBody>
      </p:sp>
      <p:sp>
        <p:nvSpPr>
          <p:cNvPr id="21" name="Shape 18"/>
          <p:cNvSpPr/>
          <p:nvPr/>
        </p:nvSpPr>
        <p:spPr>
          <a:xfrm>
            <a:off x="7905354" y="5903217"/>
            <a:ext cx="3618805" cy="478235"/>
          </a:xfrm>
          <a:custGeom>
            <a:avLst/>
            <a:gdLst/>
            <a:ahLst/>
            <a:cxnLst/>
            <a:rect l="l" t="t" r="r" b="b"/>
            <a:pathLst>
              <a:path w="2714104" h="358676">
                <a:moveTo>
                  <a:pt x="0" y="0"/>
                </a:moveTo>
                <a:lnTo>
                  <a:pt x="2625499" y="0"/>
                </a:lnTo>
                <a:arcTo wR="88605" hR="88605" stAng="16200000" swAng="5400000"/>
                <a:lnTo>
                  <a:pt x="2714104" y="270071"/>
                </a:lnTo>
                <a:arcTo wR="88605" hR="88605" stAng="0" swAng="5400000"/>
                <a:lnTo>
                  <a:pt x="0" y="358676"/>
                </a:lnTo>
                <a:lnTo>
                  <a:pt x="0" y="0"/>
                </a:lnTo>
                <a:close/>
              </a:path>
            </a:pathLst>
          </a:custGeom>
          <a:solidFill>
            <a:srgbClr val="626C3B"/>
          </a:solidFill>
          <a:ln/>
        </p:spPr>
      </p:sp>
      <p:sp>
        <p:nvSpPr>
          <p:cNvPr id="22" name="Shape 19"/>
          <p:cNvSpPr/>
          <p:nvPr/>
        </p:nvSpPr>
        <p:spPr>
          <a:xfrm>
            <a:off x="7905354" y="5903217"/>
            <a:ext cx="12700" cy="478235"/>
          </a:xfrm>
          <a:prstGeom prst="roundRect">
            <a:avLst>
              <a:gd name="adj" fmla="val 50000"/>
            </a:avLst>
          </a:prstGeom>
          <a:solidFill>
            <a:srgbClr val="CE9521"/>
          </a:solidFill>
          <a:ln/>
        </p:spPr>
      </p:sp>
      <p:sp>
        <p:nvSpPr>
          <p:cNvPr id="23" name="Text 20"/>
          <p:cNvSpPr/>
          <p:nvPr/>
        </p:nvSpPr>
        <p:spPr>
          <a:xfrm>
            <a:off x="7999810" y="5997675"/>
            <a:ext cx="3429893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867" dirty="0">
                <a:solidFill>
                  <a:srgbClr val="FFFFFF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Matplotlib · Power BI</a:t>
            </a:r>
            <a:endParaRPr lang="en-US" sz="867" dirty="0"/>
          </a:p>
        </p:txBody>
      </p:sp>
      <p:sp>
        <p:nvSpPr>
          <p:cNvPr id="24" name="Text 21"/>
          <p:cNvSpPr/>
          <p:nvPr/>
        </p:nvSpPr>
        <p:spPr>
          <a:xfrm>
            <a:off x="7999810" y="6173590"/>
            <a:ext cx="342989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733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Visualization &amp; dashboards</a:t>
            </a:r>
            <a:endParaRPr lang="en-US" sz="73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358</Words>
  <Application>Microsoft Office PowerPoint</Application>
  <PresentationFormat>Widescreen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Brygada 1918</vt:lpstr>
      <vt:lpstr>Brygada 1918 Bold</vt:lpstr>
      <vt:lpstr>Brygada 1918 SemiBold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Kesar Deaulkar</dc:creator>
  <cp:lastModifiedBy>Kesar Deaulkar</cp:lastModifiedBy>
  <cp:revision>1</cp:revision>
  <dcterms:created xsi:type="dcterms:W3CDTF">2026-07-31T07:52:33Z</dcterms:created>
  <dcterms:modified xsi:type="dcterms:W3CDTF">2026-07-31T07:54:40Z</dcterms:modified>
</cp:coreProperties>
</file>